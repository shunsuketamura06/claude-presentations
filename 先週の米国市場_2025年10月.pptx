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先週の米国市場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0"/>
                </a:solidFill>
              </a:defRPr>
            </a:pPr>
            <a:r>
              <a:t>2025年10月6日～12日のマーケット分析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377440" cy="3200400"/>
          </a:xfrm>
          <a:prstGeom prst="rect">
            <a:avLst/>
          </a:prstGeom>
          <a:solidFill>
            <a:srgbClr val="DC3545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金曜日の急落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-2.71%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トランプ関税脅迫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377440" cy="3200400"/>
          </a:xfrm>
          <a:prstGeom prst="rect">
            <a:avLst/>
          </a:prstGeom>
          <a:solidFill>
            <a:srgbClr val="28A745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月曜日の反発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+1.56%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114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懸念緩和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377440" cy="3200400"/>
          </a:xfrm>
          <a:prstGeom prst="rect">
            <a:avLst/>
          </a:prstGeom>
          <a:solidFill>
            <a:srgbClr val="FFC107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最大テーマ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米中貿易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レアアース規制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主要株価指数の推移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65737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10月10日（金）：史上級の急落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1800"/>
              </a:spcBef>
              <a:defRPr sz="2000"/>
            </a:pPr>
            <a:r>
              <a:rPr b="1">
                <a:solidFill>
                  <a:srgbClr val="DC3545"/>
                </a:solidFill>
              </a:rPr>
              <a:t>⏰ 午前10:57：トランプ大統領がTruth Socialに投稿</a:t>
            </a:r>
            <a:br/>
            <a:r>
              <a:t>   「中国に対する大規模な関税引き上げを検討中」</a:t>
            </a:r>
          </a:p>
          <a:p>
            <a:pPr>
              <a:lnSpc>
                <a:spcPct val="140000"/>
              </a:lnSpc>
              <a:spcBef>
                <a:spcPts val="1800"/>
              </a:spcBef>
              <a:defRPr sz="2000"/>
            </a:pPr>
            <a:r>
              <a:rPr b="1">
                <a:solidFill>
                  <a:srgbClr val="DC3545"/>
                </a:solidFill>
              </a:rPr>
              <a:t>⏰ 直後：市場が急反応</a:t>
            </a:r>
            <a:br/>
            <a:r>
              <a:t>   史上最高値付近から一転急落</a:t>
            </a:r>
          </a:p>
          <a:p>
            <a:pPr>
              <a:lnSpc>
                <a:spcPct val="140000"/>
              </a:lnSpc>
              <a:spcBef>
                <a:spcPts val="1800"/>
              </a:spcBef>
              <a:defRPr sz="2000"/>
            </a:pPr>
            <a:r>
              <a:rPr b="1">
                <a:solidFill>
                  <a:srgbClr val="DC3545"/>
                </a:solidFill>
              </a:rPr>
              <a:t>⏰ 終値：主要指数が大幅下落</a:t>
            </a:r>
            <a:br/>
            <a:r>
              <a:t>   S&amp;P 500: -2.71% / Nasdaq: -3.56%</a:t>
            </a:r>
          </a:p>
          <a:p>
            <a:pPr>
              <a:lnSpc>
                <a:spcPct val="140000"/>
              </a:lnSpc>
              <a:spcBef>
                <a:spcPts val="1800"/>
              </a:spcBef>
              <a:defRPr sz="2000"/>
            </a:pPr>
            <a:r>
              <a:rPr b="1">
                <a:solidFill>
                  <a:srgbClr val="DC3545"/>
                </a:solidFill>
              </a:rPr>
              <a:t>⏰ 影響：時価総額約2兆ドル消失</a:t>
            </a:r>
            <a:br/>
            <a:r>
              <a:t>   VIX指数が32%急騰（21.66）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金曜日のセクター別パフォーマンス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895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注目銘柄の動向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DC3545"/>
                </a:solidFill>
              </a:defRPr>
            </a:pPr>
            <a:r>
              <a:t>📉 大幅下落銘柄（10/10金）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AMD: -7.8%</a:t>
            </a:r>
            <a:br/>
            <a:r>
              <a:t>   (AI半導体)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Nvidia: -5.0%</a:t>
            </a:r>
            <a:br/>
            <a:r>
              <a:t>   (GPU大手)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Tesla: -5.0%</a:t>
            </a:r>
            <a:br/>
            <a:r>
              <a:t>   (EV・中国依存)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Apple: -3.0%</a:t>
            </a:r>
            <a:br/>
            <a:r>
              <a:t>   (サプライチェーン)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Levi's: -12.0%</a:t>
            </a:r>
            <a:br/>
            <a:r>
              <a:t>   (好決算も利確売り)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A745"/>
                </a:solidFill>
              </a:defRPr>
            </a:pPr>
            <a:r>
              <a:t>📈 大幅上昇銘柄（先週）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USA Rare Earth: +24%</a:t>
            </a:r>
            <a:br/>
            <a:r>
              <a:t>   (レアアース銘柄)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MP Materials: +23%</a:t>
            </a:r>
            <a:br/>
            <a:r>
              <a:t>   (レアアース鉱山)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Critical Metals: +44%</a:t>
            </a:r>
            <a:br/>
            <a:r>
              <a:t>   (希少金属)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Broadcom: +10%</a:t>
            </a:r>
            <a:br/>
            <a:r>
              <a:t>   (OpenAI提携発表)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/>
            </a:pPr>
            <a:r>
              <a:t>• Oracle: +5%</a:t>
            </a:r>
            <a:br/>
            <a:r>
              <a:t>   (月曜反発)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10月13日（月）：市場のリバウンド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902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先週の主要ニュース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1234440"/>
          </a:xfrm>
          <a:prstGeom prst="rect">
            <a:avLst/>
          </a:prstGeom>
          <a:solidFill>
            <a:srgbClr val="F0F5FA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F"/>
                </a:solidFill>
              </a:defRPr>
            </a:pPr>
            <a:r>
              <a:t>🇺🇸🇨🇳 米中貿易摩擦の再燃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中国がレアアース輸出規制を強化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トランプ大統領が対抗関税を示唆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その後、日曜日に「問題ない」とトーンダウン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8046720" cy="1234440"/>
          </a:xfrm>
          <a:prstGeom prst="rect">
            <a:avLst/>
          </a:prstGeom>
          <a:solidFill>
            <a:srgbClr val="F0F5FA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F"/>
                </a:solidFill>
              </a:defRPr>
            </a:pPr>
            <a:r>
              <a:t>💻 半導体・AI業界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Broadcom-OpenAI提携発表（10ギガワット規模）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AMD株価がOpenAI向け供給期待で上昇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Nvidia CEOがAMD提携に驚きのコメント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8046720" cy="1234440"/>
          </a:xfrm>
          <a:prstGeom prst="rect">
            <a:avLst/>
          </a:prstGeom>
          <a:solidFill>
            <a:srgbClr val="F0F5FA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F"/>
                </a:solidFill>
              </a:defRPr>
            </a:pPr>
            <a:r>
              <a:t>📊 商品市場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2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銀価格が史上最高値（$50）に接近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金価格も上昇（安全資産への逃避）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レアアース関連株が急騰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57800"/>
            <a:ext cx="8046720" cy="1234440"/>
          </a:xfrm>
          <a:prstGeom prst="rect">
            <a:avLst/>
          </a:prstGeom>
          <a:solidFill>
            <a:srgbClr val="F0F5FA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F"/>
                </a:solidFill>
              </a:defRPr>
            </a:pPr>
            <a:r>
              <a:t>🏛️ 政府・政策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1500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米国政府閉鎖が継続中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FRB次期議長候補が5名に絞られる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• 10月の金融政策決定会合に向けた議論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F"/>
                </a:solidFill>
              </a:defRPr>
            </a:pPr>
            <a:r>
              <a:t>今週の注目ポイント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solidFill>
            <a:srgbClr val="19375F"/>
          </a:solidFill>
          <a:ln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🇺🇸🇨🇳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190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375F"/>
                </a:solidFill>
              </a:defRPr>
            </a:pPr>
            <a:r>
              <a:t>米中関税問題の進展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トランプ政権の次の動きと中国の対応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548640" cy="548640"/>
          </a:xfrm>
          <a:prstGeom prst="rect">
            <a:avLst/>
          </a:prstGeom>
          <a:solidFill>
            <a:srgbClr val="19375F"/>
          </a:solidFill>
          <a:ln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375F"/>
                </a:solidFill>
              </a:defRPr>
            </a:pPr>
            <a:r>
              <a:t>経済指標の発表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雇用統計・インフレ指標（政府閉鎖の影響）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548640" cy="548640"/>
          </a:xfrm>
          <a:prstGeom prst="rect">
            <a:avLst/>
          </a:prstGeom>
          <a:solidFill>
            <a:srgbClr val="19375F"/>
          </a:solidFill>
          <a:ln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3931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375F"/>
                </a:solidFill>
              </a:defRPr>
            </a:pPr>
            <a:r>
              <a:t>企業決算シーズン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主要テック企業の決算発表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8046720" cy="914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17720"/>
            <a:ext cx="548640" cy="548640"/>
          </a:xfrm>
          <a:prstGeom prst="rect">
            <a:avLst/>
          </a:prstGeom>
          <a:solidFill>
            <a:srgbClr val="19375F"/>
          </a:solidFill>
          <a:ln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9943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375F"/>
                </a:solidFill>
              </a:defRPr>
            </a:pPr>
            <a:r>
              <a:t>FRB金融政策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920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10月28-29日の会合に向けた発言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8046720" cy="914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577840"/>
            <a:ext cx="548640" cy="548640"/>
          </a:xfrm>
          <a:prstGeom prst="rect">
            <a:avLst/>
          </a:prstGeom>
          <a:solidFill>
            <a:srgbClr val="19375F"/>
          </a:solidFill>
          <a:ln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7784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55955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375F"/>
                </a:solidFill>
              </a:defRPr>
            </a:pPr>
            <a:r>
              <a:t>AI・半導体動向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521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Broadcom-OpenAI提携の詳細と影響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6400800" cy="685800"/>
          </a:xfrm>
          <a:prstGeom prst="rect">
            <a:avLst/>
          </a:prstGeom>
          <a:solidFill>
            <a:srgbClr val="28466E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76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864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FFFFFF"/>
                </a:solidFill>
              </a:defRPr>
            </a:pPr>
            <a:r>
              <a:t>米中貿易摩擦の再燃により市場は大きなボラティリティを記録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834640"/>
            <a:ext cx="6400800" cy="685800"/>
          </a:xfrm>
          <a:prstGeom prst="rect">
            <a:avLst/>
          </a:prstGeom>
          <a:solidFill>
            <a:srgbClr val="28466E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9992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864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971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FFFFFF"/>
                </a:solidFill>
              </a:defRPr>
            </a:pPr>
            <a:r>
              <a:t>金曜日に-2.71%急落、月曜日に+1.56%反発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57600"/>
            <a:ext cx="6400800" cy="685800"/>
          </a:xfrm>
          <a:prstGeom prst="rect">
            <a:avLst/>
          </a:prstGeom>
          <a:solidFill>
            <a:srgbClr val="28466E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8221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864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794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FFFFFF"/>
                </a:solidFill>
              </a:defRPr>
            </a:pPr>
            <a:r>
              <a:t>レアアース問題が新たな焦点に（関連株は+20～40%上昇）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6400800" cy="685800"/>
          </a:xfrm>
          <a:prstGeom prst="rect">
            <a:avLst/>
          </a:prstGeom>
          <a:solidFill>
            <a:srgbClr val="28466E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6451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864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FFFFFF"/>
                </a:solidFill>
              </a:defRPr>
            </a:pPr>
            <a:r>
              <a:t>AI・半導体セクターは引き続き注目（Broadcom-OpenAI提携）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03520"/>
            <a:ext cx="6400800" cy="685800"/>
          </a:xfrm>
          <a:prstGeom prst="rect">
            <a:avLst/>
          </a:prstGeom>
          <a:solidFill>
            <a:srgbClr val="28466E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5468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C864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440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FFFFFF"/>
                </a:solidFill>
              </a:defRPr>
            </a:pPr>
            <a:r>
              <a:t>今週も米中関係とFRBの動向に要注目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